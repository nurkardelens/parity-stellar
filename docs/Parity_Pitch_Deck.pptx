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0ce21a80_2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40ce21a80_2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Hoş geldiniz. Online cohort'un açılışı - bu iki hafta boyunca ne yapacağımızı anlatacağım.</a:t>
            </a:r>
            <a:endParaRPr sz="900"/>
          </a:p>
        </p:txBody>
      </p:sp>
      <p:sp>
        <p:nvSpPr>
          <p:cNvPr id="55" name="Google Shape;55;g3f40ce21a80_2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0ce21a80_2_1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40ce21a80_2_1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67" name="Google Shape;67;g3f40ce21a80_2_1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af00d6e0_1_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baf00d6e0_1_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75" name="Google Shape;75;g3fbaf00d6e0_1_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af00d6e0_1_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fbaf00d6e0_1_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83" name="Google Shape;83;g3fbaf00d6e0_1_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af00d6e0_1_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baf00d6e0_1_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91" name="Google Shape;91;g3fbaf00d6e0_1_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A1509"/>
              </a:gs>
              <a:gs pos="42000">
                <a:srgbClr val="12090A"/>
              </a:gs>
              <a:gs pos="100000">
                <a:srgbClr val="07050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2428875" y="0"/>
            <a:ext cx="4286400" cy="2952900"/>
          </a:xfrm>
          <a:prstGeom prst="rect">
            <a:avLst/>
          </a:prstGeom>
          <a:gradFill>
            <a:gsLst>
              <a:gs pos="0">
                <a:srgbClr val="E8C87A">
                  <a:alpha val="20000"/>
                </a:srgbClr>
              </a:gs>
              <a:gs pos="70000">
                <a:srgbClr val="E8C87A">
                  <a:alpha val="0"/>
                </a:srgbClr>
              </a:gs>
              <a:gs pos="100000">
                <a:srgbClr val="E8C87A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7200"/>
            <a:ext cx="1841488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571500" y="1768152"/>
            <a:ext cx="6131719" cy="15262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1149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6500"/>
              <a:buFont typeface="Georgia"/>
              <a:buNone/>
            </a:pPr>
            <a:r>
              <a:rPr b="1" i="0" lang="en" sz="6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r>
              <a:rPr b="1" lang="en" sz="6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" sz="6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PARITY</a:t>
            </a:r>
            <a:endParaRPr b="0" i="0" sz="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71500" y="3638475"/>
            <a:ext cx="571500" cy="4763"/>
          </a:xfrm>
          <a:prstGeom prst="rect">
            <a:avLst/>
          </a:prstGeom>
          <a:gradFill>
            <a:gsLst>
              <a:gs pos="0">
                <a:srgbClr val="D9A94E"/>
              </a:gs>
              <a:gs pos="100000">
                <a:srgbClr val="D9A94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71500" y="4505325"/>
            <a:ext cx="30002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57777" y="4505325"/>
            <a:ext cx="15561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8A45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B08A45"/>
                </a:solidFill>
              </a:rPr>
              <a:t>Stellar FX Forward Market — Nur Kardelen &amp; Atakan Yavuzarslan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Solution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Parity: a two-sided, margined FX forward market on Stellar where the price comes from covered interest parity — not a dealer.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/>
              <a:buChar char="●"/>
            </a:pPr>
            <a:r>
              <a:rPr i="1" lang="en" sz="16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Forward price computed on-chain: F = S x (1 + r_quote x t/360) / (1 + r_base x t/360)</a:t>
            </a:r>
            <a:endParaRPr i="1"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/>
              <a:buChar char="●"/>
            </a:pPr>
            <a:r>
              <a:rPr i="1" lang="en" sz="16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Hedger posts a request, makers quote a spread, accept opens the position — all in one transaction</a:t>
            </a:r>
            <a:endParaRPr i="1"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/>
              <a:buChar char="●"/>
            </a:pPr>
            <a:r>
              <a:rPr i="1" lang="en" sz="16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Both sides post 5% margin in USDC; mark-to-market on every oracle update</a:t>
            </a:r>
            <a:endParaRPr i="1"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/>
              <a:buChar char="●"/>
            </a:pPr>
            <a:r>
              <a:rPr i="1" lang="en" sz="16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Margin calls, partial liquidation, bad-debt waterfall — fully automatic, fully on-chain</a:t>
            </a:r>
            <a:endParaRPr i="1"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t/>
            </a:r>
            <a:endParaRPr i="1"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t>Crebit sells rate locks as a dealer. Parity builds the market underneath.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PMF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514350" y="1085400"/>
            <a:ext cx="7686600" cy="27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Stellar carries ~20 fiat stablecoins and tokenized government debt — but zero FX hedging instruments.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Mexican exporter receiving $100K USDC in 90 days has no on-chain way to lock the MXN rate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An anchor pre-funding a 10M MXN float carries months of unhedged dollar exposure — a 7% slide costs $35K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 payment company with fixed peso payouts and dollar billing absorbs $15K/quarter in FX variance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Today's workarounds: pre-fund months ahead (locks working capital) or carry the risk and pad pricing.</a:t>
            </a:r>
            <a:endParaRPr i="1"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Parity fills this gap with an objective, two-sided market priced by mathematics.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Technical Workflow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514350" y="1085400"/>
            <a:ext cx="7686600" cy="30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Soroban smart contract (Rust, 21 functions, 27KB WASM, deployed on testnet)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1. Hedger posts RFQ: pair (MXN/USD or TRY/USD), direction, notional, tenor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2. Contract computes parity forward from on-chain rates (e.g. 20.297 for 90d MXN/USD)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3. Makers quote spread in basis points; margin reserved at quote submission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4. Hedger accepts — position opens, both sides post 5% margin in USDC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5. Mark-to-market on oracle updates; margin call at 50% loss, liquidation at 100%</a:t>
            </a:r>
            <a:endParaRPr i="1"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6. At maturity: cash settlement with bad-debt waterfall (margin → insurance → haircut)</a:t>
            </a:r>
            <a:endParaRPr i="1"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Stellar integration: SEP-41 (asset contracts), SEP-40 (Reflector oracle), Soroban auth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Team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514350" y="1085400"/>
            <a:ext cx="7686600" cy="3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Nur Kardelen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Smart contract development, financial modeling, Soroban architecture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Atakan Yavuzarslan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Frontend development, Stellar integration, UX design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